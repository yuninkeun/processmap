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부서 사이에서 멈추는 업무를 프로세스맵으로 흐르게 만드는 processmap을 소개합니다. 오른쪽 그림처럼 부서별 행에 단계가 놓이고, 납기가 지난 단계는 빨간 점선으로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문제는 세 가지입니다. 소통이 끊기고, 대기시간이 쌓이고, 결국 납기를 놓칩니다. 오른쪽처럼 구매팀은 끝냈는데 품질팀에서 3일째 멈춰 있어도 아무도 모릅니다.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지금까지는 손으로, 경험으로, 감으로 해 왔습니다. 세 가지 모두 사람이 바뀌거나 바빠지면 무너집니다.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해결책은 네 단계입니다. 작성, 배정과 알림, 진행 갱신, 모니터링. 스윔레인이 곧 주관부서이고, 납기가 지난 단계는 시스템이 알아서 빨갛게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핵심 기능입니다. 단계마다 주관부서, 담당자와 이메일, R&amp;R, 납기, 진행 상태 다섯 가지를 붙입니다. 관리자는 진행 현황 화면에서 부서별 집계와 지연 목록을 보고, 지연과 보류가 가장 많은 부서가 병목으로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핵심 기능입니다. 왼쪽처럼 한 줄에 한 단계씩 적으면 스윔레인 흐름도가 자동으로 그려집니다. 담당자를 지정하고 저장하면 오른쪽 같은 배정 메일이 갑니다. SMTP가 없어도 멈추지 않고 발송 대기함에 쌓입니다.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신뢰와 보안 원칙 여섯 가지입니다. 키는 .env에만, 입력은 서버에서 검증, HTML 직접 삽입은 없고, 메일은 중복 발송을 막습니다. 배포 전 점검 문서에서 모두 통과했습니다.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성공 기준은 네 숫자로 말합니다. 지정률 100%, 알림 1분, 병목 파악 10초, 작성 10분. 지금은 지정률 0%, 알림은 며칠, 병목은 회의를 열어야 알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스택은 단순합니다. Next.js 하나로 화면과 API를 만들고, 데이터는 JSON 파일에, 메일은 nodemailer로 보냅니다. PRD부터 CHECK까지 문서를 먼저 쓰고, 변경마다 lint와 build를 돌리는 검증 루프로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정리하면, 프로세스맵이 다음에 누가 무엇을 언제까지 해야 하는지를 대신 말해 줍니다. 다음 단계는 우리 부서 절차를 한 건 그려 보는 것, 그리고 SMTP와 공개 URL을 연결하는 것입니다.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DC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processmap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프로세스맵,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전산으로 흐르게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프로세스맵을 정의하고 실행·판단·모니터링을 전산으로 수행한다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정민기  ·  2026. 09. 30  ·  Vibe Coding 실무 교육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0" y="1417320"/>
            <a:ext cx="3291840" cy="566928"/>
          </a:xfrm>
          <a:prstGeom prst="rect">
            <a:avLst/>
          </a:prstGeom>
          <a:solidFill>
            <a:srgbClr val="1B2830"/>
          </a:solidFill>
          <a:ln w="6350">
            <a:solidFill>
              <a:srgbClr val="2938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68112" y="14173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94960" y="1984248"/>
            <a:ext cx="3291840" cy="566928"/>
          </a:xfrm>
          <a:prstGeom prst="rect">
            <a:avLst/>
          </a:prstGeom>
          <a:solidFill>
            <a:srgbClr val="172229"/>
          </a:solidFill>
          <a:ln w="6350">
            <a:solidFill>
              <a:srgbClr val="2938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68112" y="198424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2551176"/>
            <a:ext cx="3291840" cy="566928"/>
          </a:xfrm>
          <a:prstGeom prst="rect">
            <a:avLst/>
          </a:prstGeom>
          <a:solidFill>
            <a:srgbClr val="1B2830"/>
          </a:solidFill>
          <a:ln w="6350">
            <a:solidFill>
              <a:srgbClr val="2938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68112" y="25511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527048"/>
            <a:ext cx="4914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724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527048"/>
            <a:ext cx="4914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 요청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38010" y="1490472"/>
            <a:ext cx="400050" cy="420624"/>
          </a:xfrm>
          <a:prstGeom prst="diamond">
            <a:avLst/>
          </a:prstGeom>
          <a:solidFill>
            <a:srgbClr val="E8EDF9"/>
          </a:solidFill>
          <a:ln w="12700">
            <a:solidFill>
              <a:srgbClr val="3352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92290" y="1527048"/>
            <a:ext cx="4914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충분?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75220" y="1527048"/>
            <a:ext cx="491490" cy="347472"/>
          </a:xfrm>
          <a:prstGeom prst="roundRect">
            <a:avLst>
              <a:gd name="adj" fmla="val 13158"/>
            </a:avLst>
          </a:prstGeom>
          <a:solidFill>
            <a:srgbClr val="F0E9FA"/>
          </a:solidFill>
          <a:ln w="12700">
            <a:solidFill>
              <a:srgbClr val="6A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5220" y="1527048"/>
            <a:ext cx="4914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승인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58150" y="2093976"/>
            <a:ext cx="4914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058150" y="2093976"/>
            <a:ext cx="4914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검사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58150" y="2660904"/>
            <a:ext cx="49149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7242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58150" y="2660904"/>
            <a:ext cx="4914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투입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00850" y="1700784"/>
            <a:ext cx="137160" cy="9144"/>
          </a:xfrm>
          <a:prstGeom prst="line">
            <a:avLst/>
          </a:prstGeom>
          <a:noFill/>
          <a:ln w="1270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38060" y="1700784"/>
            <a:ext cx="137160" cy="9144"/>
          </a:xfrm>
          <a:prstGeom prst="line">
            <a:avLst/>
          </a:prstGeom>
          <a:noFill/>
          <a:ln w="1270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66710" y="1700784"/>
            <a:ext cx="91440" cy="566928"/>
          </a:xfrm>
          <a:prstGeom prst="line">
            <a:avLst/>
          </a:prstGeom>
          <a:noFill/>
          <a:ln w="1270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03895" y="2441448"/>
            <a:ext cx="9144" cy="219456"/>
          </a:xfrm>
          <a:prstGeom prst="line">
            <a:avLst/>
          </a:prstGeom>
          <a:noFill/>
          <a:ln w="1270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8058150" y="2423160"/>
            <a:ext cx="491490" cy="146304"/>
          </a:xfrm>
          <a:prstGeom prst="rect">
            <a:avLst/>
          </a:prstGeom>
          <a:solidFill>
            <a:srgbClr val="B326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D+4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업무가 부서 사이에서 멈춥니다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담당자들이 겪는 문제 (INPUT: 누가·왜 쓰나)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55064"/>
            <a:ext cx="384048" cy="384048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270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소통이 끊깁니다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47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일이 끝나면 다음 부서에 따로 연락해야 하고, 연락이 늦거나 빠지면 그대로 대기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06624"/>
            <a:ext cx="384048" cy="384048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578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대기시간이 쌓입니다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9864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부서에서 며칠째 멈춰 있는지 아무도 모르고, 병목이 어디인지 숫자로 말할 수 없음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58184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630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납기를 지키기 어렵습니다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502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부서·담당자가 정해져 있지 않은 단계가 많아 “누가 언제까지”가 불분명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5544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5544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구매팀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0920" y="2194560"/>
            <a:ext cx="9144" cy="320040"/>
          </a:xfrm>
          <a:prstGeom prst="line">
            <a:avLst/>
          </a:prstGeom>
          <a:noFill/>
          <a:ln w="1524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35040" y="251460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ADEDB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514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2514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3일째 대기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60920" y="3154680"/>
            <a:ext cx="9144" cy="320040"/>
          </a:xfrm>
          <a:prstGeom prst="line">
            <a:avLst/>
          </a:prstGeom>
          <a:noFill/>
          <a:ln w="1524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35040" y="34747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474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생산팀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3474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processmap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손으로, 경험으로, 감으로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방식의 한계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엑셀·PPT·구두로 절차를 정리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최신본이 어디 있는지 모르고, 바뀌면 처음부터 다시 그림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91640"/>
            <a:ext cx="548640" cy="548640"/>
          </a:xfrm>
          <a:prstGeom prst="ellipse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경험에 의존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머릿속에만 있는 절차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바뀌면 절차가 사라지고, 신입은 누구에게 물을지 모름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rgbClr val="FBEBD3"/>
          </a:solidFill>
          <a:ln w="12700">
            <a:solidFill>
              <a:srgbClr val="FBEB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377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정성적으로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“급한 것부터” 감으로 판단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2918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병목이 어디인지, 얼마나 기다리는지 숫자로 말할 수 없음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processmap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해결책: 프로세스맵을 전산으로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누가 무엇을 언제까지 해야 하는지가 자동으로 드러납니다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685800"/>
          </a:xfrm>
          <a:prstGeom prst="chevron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작성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담당자가 텍스트 몇 줄로 절차를 그림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2011680" cy="685800"/>
          </a:xfrm>
          <a:prstGeom prst="chevron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배정·알림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주관부서·담당자·납기 지정 → 메일 알림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2011680" cy="685800"/>
          </a:xfrm>
          <a:prstGeom prst="chevron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진행 갱신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대기·진행중·완료·보류 상태를 갱신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2011680" cy="685800"/>
          </a:xfrm>
          <a:prstGeom prst="chevron">
            <a:avLst/>
          </a:prstGeom>
          <a:solidFill>
            <a:srgbClr val="17242D"/>
          </a:solidFill>
          <a:ln w="12700">
            <a:solidFill>
              <a:srgbClr val="1724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모니터링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148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지연·병목을 대시보드에서 확인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71800"/>
            <a:ext cx="4937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29718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538728"/>
            <a:ext cx="4937760" cy="566928"/>
          </a:xfrm>
          <a:prstGeom prst="rect">
            <a:avLst/>
          </a:prstGeom>
          <a:solidFill>
            <a:srgbClr val="F5F8F7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53872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4105656"/>
            <a:ext cx="4937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410565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3081528"/>
            <a:ext cx="90297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724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54480" y="3081528"/>
            <a:ext cx="90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 요청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94610" y="3044952"/>
            <a:ext cx="811530" cy="420624"/>
          </a:xfrm>
          <a:prstGeom prst="diamond">
            <a:avLst/>
          </a:prstGeom>
          <a:solidFill>
            <a:srgbClr val="E8EDF9"/>
          </a:solidFill>
          <a:ln w="12700">
            <a:solidFill>
              <a:srgbClr val="3352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48890" y="3081528"/>
            <a:ext cx="90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충분?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43300" y="3081528"/>
            <a:ext cx="902970" cy="347472"/>
          </a:xfrm>
          <a:prstGeom prst="roundRect">
            <a:avLst>
              <a:gd name="adj" fmla="val 13158"/>
            </a:avLst>
          </a:prstGeom>
          <a:solidFill>
            <a:srgbClr val="F0E9FA"/>
          </a:solidFill>
          <a:ln w="12700">
            <a:solidFill>
              <a:srgbClr val="6A3F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43300" y="3081528"/>
            <a:ext cx="90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승인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37710" y="3648456"/>
            <a:ext cx="90297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537710" y="3648456"/>
            <a:ext cx="90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검사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37710" y="4215384"/>
            <a:ext cx="90297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1724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37710" y="4215384"/>
            <a:ext cx="90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투입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57450" y="3255264"/>
            <a:ext cx="137160" cy="9144"/>
          </a:xfrm>
          <a:prstGeom prst="line">
            <a:avLst/>
          </a:prstGeom>
          <a:noFill/>
          <a:ln w="1270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406140" y="3255264"/>
            <a:ext cx="137160" cy="9144"/>
          </a:xfrm>
          <a:prstGeom prst="line">
            <a:avLst/>
          </a:prstGeom>
          <a:noFill/>
          <a:ln w="1270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446270" y="3255264"/>
            <a:ext cx="91440" cy="566928"/>
          </a:xfrm>
          <a:prstGeom prst="line">
            <a:avLst/>
          </a:prstGeom>
          <a:noFill/>
          <a:ln w="1270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89195" y="3995928"/>
            <a:ext cx="9144" cy="219456"/>
          </a:xfrm>
          <a:prstGeom prst="line">
            <a:avLst/>
          </a:prstGeom>
          <a:noFill/>
          <a:ln w="12700">
            <a:solidFill>
              <a:srgbClr val="5A6A72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4537710" y="3977640"/>
            <a:ext cx="902970" cy="146304"/>
          </a:xfrm>
          <a:prstGeom prst="rect">
            <a:avLst/>
          </a:prstGeom>
          <a:solidFill>
            <a:srgbClr val="B326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D+4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306324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스윔레인 = 주관부서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행마다 부서, 칸마다 단계. 좌표를 그릴 필요 없이 자동 배치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지연은 자동으로 빨갛게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 &lt; 오늘 이면서 완료가 아니면 “지연 D+n”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processmap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 담당 배정 · R&amp;R · 진행 STATUS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단계에 주관부서와 담당자를 붙이고, 관리자는 한 화면에서 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지정하는 5가지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주관부서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121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스윔레인(행) = 부서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423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· 이메일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70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수신 대상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71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R&amp;R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18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역할·책임 한 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판정 기준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STATUS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· 진행중 · 완료 · 보류 (4개 고정)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진행 현황 (/status)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주관부서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2029968"/>
            <a:ext cx="4206240" cy="9144"/>
          </a:xfrm>
          <a:prstGeom prst="line">
            <a:avLst/>
          </a:prstGeom>
          <a:noFill/>
          <a:ln w="9525">
            <a:solidFill>
              <a:srgbClr val="D6DDD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0" y="2103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구매팀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760720" y="21031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21031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21031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21031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001000" y="21031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43400" y="2459736"/>
            <a:ext cx="4297680" cy="365760"/>
          </a:xfrm>
          <a:prstGeom prst="rect">
            <a:avLst/>
          </a:prstGeom>
          <a:solidFill>
            <a:srgbClr val="FADEDB"/>
          </a:solidFill>
          <a:ln w="12700">
            <a:solidFill>
              <a:srgbClr val="FADED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89120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품질팀(IQC)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760720" y="24871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309360" y="248716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903720" y="24871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452360" y="24871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001000" y="248716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349240" y="2542032"/>
            <a:ext cx="457200" cy="201168"/>
          </a:xfrm>
          <a:prstGeom prst="rect">
            <a:avLst/>
          </a:prstGeom>
          <a:solidFill>
            <a:srgbClr val="B3261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4389120" y="28712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생산팀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760720" y="28712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309360" y="287121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28712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452360" y="287121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001000" y="287121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389120" y="3383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단계 목록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389120" y="3675888"/>
            <a:ext cx="42062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26280" y="3675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검사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126480" y="36758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품질팀(IQC) · 이검사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7955280" y="36758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D+4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389120" y="4059936"/>
            <a:ext cx="42062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26280" y="40599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발주 승인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6126480" y="4059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구매팀 · 박팀장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7955280" y="40599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processmap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 쉽게 작성하고, 담당자에게 메일로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담당자가 10분 안에 그리고, 지정한 담당자에게 알림이 갑니다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텍스트로 빠르게 입력 — 한 줄이 한 단계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0F171C"/>
          </a:solidFill>
          <a:ln w="12700">
            <a:solidFill>
              <a:srgbClr val="0F17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구매팀: 발주 요청서 접수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구매팀: ? 재고가 충분한가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구매팀: [승인] 팀장 발주 승인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구매팀: SAP 발주 등록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IQC: 입고 검사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5E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IQC: [산출물] 검사 성적서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부서:</a:t>
            </a:r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 행(스윔레인) 지정   </a:t>
            </a:r>
            <a:pPr indent="0" marL="0">
              <a:buNone/>
            </a:pPr>
            <a:r>
              <a:rPr lang="en-US" sz="1050" b="1" dirty="0">
                <a:solidFill>
                  <a:srgbClr val="3352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   </a:t>
            </a:r>
            <a:pPr indent="0" marL="0">
              <a:buNone/>
            </a:pPr>
            <a:r>
              <a:rPr lang="en-US" sz="1050" b="1" dirty="0">
                <a:solidFill>
                  <a:srgbClr val="6A3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[승인] [산출물]</a:t>
            </a:r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유형   → 순서대로 자동 연결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메일 알림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73736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120640" y="18288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사람  </a:t>
            </a:r>
            <a:pPr indent="0" marL="0">
              <a:buNone/>
            </a:pPr>
            <a:r>
              <a:rPr lang="en-US" sz="10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iqc@company.com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 </a:t>
            </a:r>
            <a:pPr indent="0" marL="0">
              <a:buNone/>
            </a:pPr>
            <a:r>
              <a:rPr lang="en-US" sz="1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[프로세스맵] 구매 발주 프로세스 — “입고 검사” 업무 배정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542032"/>
            <a:ext cx="3383280" cy="9144"/>
          </a:xfrm>
          <a:prstGeom prst="line">
            <a:avLst/>
          </a:prstGeom>
          <a:noFill/>
          <a:ln w="9525">
            <a:solidFill>
              <a:srgbClr val="D6DD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260604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단계: 입고 검사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주관부서: 품질팀(IQC)   ■ 담당자: 이검사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R&amp;R: 샘플링 검사·판정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납기: 2026-09-26   ■ 상태: 보류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바로 열기: https://…/map/…?node=…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4114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자동: </a:t>
            </a:r>
            <a:pPr indent="0" marL="0">
              <a:buNone/>
            </a:pPr>
            <a:r>
              <a:rPr lang="en-US" sz="9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시 담당자 이메일이 새로 지정·변경된 단계에 “업무 배정” 발송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수동: </a:t>
            </a:r>
            <a:pPr indent="0" marL="0">
              <a:buNone/>
            </a:pPr>
            <a:r>
              <a:rPr lang="en-US" sz="9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패널의 “담당자에게 알림” 버튼으로 진행 요청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 없으면 </a:t>
            </a:r>
            <a:pPr indent="0" marL="0">
              <a:buNone/>
            </a:pPr>
            <a:r>
              <a:rPr lang="en-US" sz="9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대기함에 기록, 메일 앱으로 바로 보내기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processmap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· 보안 원칙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⑦ — 배포 전 점검(CHECK.md)에서 모두 확인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18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 보호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 등 키는 .env 에만, 커밋·출력 금지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600200"/>
            <a:ext cx="457200" cy="457200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618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불신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 입력을 서버에서 형식·길이 검증 → 400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1618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XSS 방지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JSX 렌더링만, HTML 직접 삽입 0건 (SVG 포함)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218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남용 방지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형식 검증, 같은 단계·수신자 1분 내 중복 차단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200400"/>
            <a:ext cx="457200" cy="457200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218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최소화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이름·회사 이메일만 저장, 삭제 시 함께 삭제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5F8F7"/>
          </a:solidFill>
          <a:ln w="12700">
            <a:solidFill>
              <a:srgbClr val="F5F8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0B6E5C"/>
          </a:solidFill>
          <a:ln w="12700">
            <a:solidFill>
              <a:srgbClr val="0B6E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218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보호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실패 시 편집본 유지, 충돌 감지(409), JSON 백업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processmap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“병목이 어디인지 알고, 판단 기준을 세워, 대기 없이 업무가 흐른다”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72229"/>
          </a:solidFill>
          <a:ln w="9525">
            <a:solidFill>
              <a:srgbClr val="2938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C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주관부서·담당자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단계에 부서·담당자 필수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72229"/>
          </a:solidFill>
          <a:ln w="9525">
            <a:solidFill>
              <a:srgbClr val="2938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645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C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알림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 시간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즉시 자동 메일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72229"/>
          </a:solidFill>
          <a:ln w="9525">
            <a:solidFill>
              <a:srgbClr val="2938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645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C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10초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파악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대시보드가 지연을 자동 집계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965960" cy="2926080"/>
          </a:xfrm>
          <a:prstGeom prst="roundRect">
            <a:avLst>
              <a:gd name="adj" fmla="val 4651"/>
            </a:avLst>
          </a:prstGeom>
          <a:solidFill>
            <a:srgbClr val="172229"/>
          </a:solidFill>
          <a:ln w="9525">
            <a:solidFill>
              <a:srgbClr val="2938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6459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DC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51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 작성 시간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빠른 입력 + 자동 배치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현재(가정): 지정률 0% · 알림 수 시간~수 일 · 병목 파악은 회의를 열어야 · 작성 반나절(PPT)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스택과 만든 방법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초보자도 유지보수할 수 있는 단순한 구성 — 로그인·외부 DB 없이 시작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 · React 19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API를 한 프로젝트에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470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모델을 타입으로 고정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(Dept · ProcessMap · StepNode · Notice)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파일 저장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8470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data/db.json — DB 설치 없이 시작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불가 환경이면 메모리로 전환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nodemailer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172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 환경변수가 있으면 발송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발송 대기함(Outbox)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6974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6DD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172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대상 (토큰 준비 후 배포)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6974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807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바이브 코딩 절차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172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→ PLAN → DESIGN → 구현 → CHECK(보안 점검) → Act. 매 변경마다 lint → build → dev 검증 루프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1605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 전사 현황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56232" y="416052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856232" y="41605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/dept/[id]  부서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55264" y="416052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55264" y="41605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/map/[id]  흐름도 편집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54296" y="416052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54296" y="41605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/status  진행 현황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53328" y="416052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53328" y="41605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/notifications  알림 내역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52360" y="4160520"/>
            <a:ext cx="1307592" cy="384048"/>
          </a:xfrm>
          <a:prstGeom prst="roundRect">
            <a:avLst>
              <a:gd name="adj" fmla="val 50000"/>
            </a:avLst>
          </a:prstGeom>
          <a:solidFill>
            <a:srgbClr val="F5F8F7"/>
          </a:solidFill>
          <a:ln w="6350">
            <a:solidFill>
              <a:srgbClr val="D6DD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360" y="416052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24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/api/*  8개 라우트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4773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processmap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없이 흐르는 업무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프로세스맵이 “다음에 누가 무엇을 언제까지”를 대신 말해 줍니다.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3DC3A3"/>
          </a:solidFill>
          <a:ln w="12700">
            <a:solidFill>
              <a:srgbClr val="3DC3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31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데이터로 우리 부서 절차 1건 그려 보기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24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6줄이면 10분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3DC3A3"/>
          </a:solidFill>
          <a:ln w="12700">
            <a:solidFill>
              <a:srgbClr val="3DC3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990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 · 공개 URL 연결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826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에 값만 넣으면 실제 메일 발송 · Vercel 배포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3DC3A3"/>
          </a:solidFill>
          <a:ln w="12700">
            <a:solidFill>
              <a:srgbClr val="3DC3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484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버전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1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SSO 로그인 · DB 저장 · 결재 연동 (이번 범위 밖)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C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·  정민기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processmap — 업무 프로세스맵</dc:title>
  <dc:subject>PptxGenJS Presentation</dc:subject>
  <dc:creator>정민기</dc:creator>
  <cp:lastModifiedBy>정민기</cp:lastModifiedBy>
  <cp:revision>1</cp:revision>
  <dcterms:created xsi:type="dcterms:W3CDTF">2026-09-30T08:10:38Z</dcterms:created>
  <dcterms:modified xsi:type="dcterms:W3CDTF">2026-09-30T08:10:38Z</dcterms:modified>
</cp:coreProperties>
</file>